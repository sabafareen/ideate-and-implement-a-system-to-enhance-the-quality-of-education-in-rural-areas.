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82" r:id="rId6"/>
    <p:sldId id="269" r:id="rId7"/>
    <p:sldId id="274" r:id="rId8"/>
    <p:sldId id="273" r:id="rId9"/>
    <p:sldId id="268" r:id="rId10"/>
    <p:sldId id="272" r:id="rId11"/>
    <p:sldId id="271" r:id="rId12"/>
    <p:sldId id="270" r:id="rId13"/>
    <p:sldId id="265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66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3" d="100"/>
          <a:sy n="73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CSE7101-Capstone%20Project%20Review%202.pptx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CSE7101-Capstone%20Project%20Review%202.pptx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Ideate and implement a system to enhance the quality of education in rural areas.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197505" y="2152280"/>
            <a:ext cx="4984095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COM_21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</a:t>
            </a:r>
            <a:r>
              <a:rPr lang="en-GB" sz="1800" dirty="0" err="1"/>
              <a:t>.</a:t>
            </a:r>
            <a:r>
              <a:rPr lang="en-GB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Sunil</a:t>
            </a:r>
            <a:r>
              <a:rPr lang="en-GB" sz="1600" b="1" dirty="0">
                <a:latin typeface="Cambria" panose="02040503050406030204" pitchFamily="18" charset="0"/>
                <a:ea typeface="Cambria" panose="02040503050406030204" pitchFamily="18" charset="0"/>
              </a:rPr>
              <a:t> Kumar Sahoo</a:t>
            </a:r>
            <a:endParaRPr lang="en-GB" sz="16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Assistant Professor</a:t>
            </a:r>
            <a:endParaRPr 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US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/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/>
                <a:gridCol w="3333675"/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COM</a:t>
            </a:r>
            <a:endParaRPr lang="en-US" sz="18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Dr. Pallavi R</a:t>
            </a:r>
            <a:endParaRPr lang="en-IN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Ms. Benitha Christinal J</a:t>
            </a:r>
            <a:endParaRPr lang="en-IN" sz="1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03197" y="2687319"/>
          <a:ext cx="5685974" cy="1573032"/>
        </p:xfrm>
        <a:graphic>
          <a:graphicData uri="http://schemas.openxmlformats.org/drawingml/2006/table">
            <a:tbl>
              <a:tblPr firstRow="1" bandRow="1"/>
              <a:tblGrid>
                <a:gridCol w="2865824"/>
                <a:gridCol w="2820150"/>
              </a:tblGrid>
              <a:tr h="39325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393258">
                <a:tc>
                  <a:txBody>
                    <a:bodyPr/>
                    <a:lstStyle/>
                    <a:p>
                      <a:r>
                        <a:rPr lang="en-IN" sz="1800" dirty="0"/>
                        <a:t>20221COM0019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Makandar Saba Fareen</a:t>
                      </a:r>
                      <a:endParaRPr lang="en-IN" sz="1800" dirty="0"/>
                    </a:p>
                  </a:txBody>
                  <a:tcPr/>
                </a:tc>
              </a:tr>
              <a:tr h="393258">
                <a:tc>
                  <a:txBody>
                    <a:bodyPr/>
                    <a:lstStyle/>
                    <a:p>
                      <a:r>
                        <a:rPr lang="en-IN" sz="1800" dirty="0"/>
                        <a:t>20221COM0052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Pikkili Sai Tarishma</a:t>
                      </a:r>
                      <a:endParaRPr lang="en-IN" sz="1800" dirty="0"/>
                    </a:p>
                  </a:txBody>
                  <a:tcPr/>
                </a:tc>
              </a:tr>
              <a:tr h="393258">
                <a:tc>
                  <a:txBody>
                    <a:bodyPr/>
                    <a:lstStyle/>
                    <a:p>
                      <a:r>
                        <a:rPr lang="en-IN" sz="1800" dirty="0"/>
                        <a:t>20221COM0039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Billa SunilKumar</a:t>
                      </a:r>
                      <a:endParaRPr lang="en-IN" sz="1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925287"/>
            <a:ext cx="10668000" cy="5105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5000"/>
          </a:bodyPr>
          <a:lstStyle/>
          <a:p>
            <a:pPr marL="495300" indent="-34290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25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endParaRPr lang="en-US" sz="282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25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lang="en-US" sz="282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25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sz="282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25" dirty="0">
                <a:latin typeface="Cambria" panose="02040503050406030204" pitchFamily="18" charset="0"/>
                <a:ea typeface="Cambria" panose="02040503050406030204" pitchFamily="18" charset="0"/>
              </a:rPr>
              <a:t>Literature Survey</a:t>
            </a:r>
            <a:endParaRPr lang="en-US" sz="282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25" dirty="0">
                <a:latin typeface="Cambria" panose="02040503050406030204" pitchFamily="18" charset="0"/>
                <a:ea typeface="Cambria" panose="02040503050406030204" pitchFamily="18" charset="0"/>
              </a:rPr>
              <a:t>Existing Methods and Drawbacks</a:t>
            </a:r>
            <a:endParaRPr lang="en-US" sz="282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25" dirty="0">
                <a:latin typeface="Cambria" panose="02040503050406030204" pitchFamily="18" charset="0"/>
                <a:ea typeface="Cambria" panose="02040503050406030204" pitchFamily="18" charset="0"/>
              </a:rPr>
              <a:t>Proposed Methodology</a:t>
            </a:r>
            <a:endParaRPr lang="en-US" sz="282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25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  <a:endParaRPr lang="en-US" sz="282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25" dirty="0">
                <a:latin typeface="Cambria" panose="02040503050406030204" pitchFamily="18" charset="0"/>
                <a:ea typeface="Cambria" panose="02040503050406030204" pitchFamily="18" charset="0"/>
              </a:rPr>
              <a:t>Modules</a:t>
            </a:r>
            <a:endParaRPr lang="en-US" sz="282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25" dirty="0">
                <a:latin typeface="Cambria" panose="02040503050406030204" pitchFamily="18" charset="0"/>
                <a:ea typeface="Cambria" panose="02040503050406030204" pitchFamily="18" charset="0"/>
              </a:rPr>
              <a:t>Implementation Progress</a:t>
            </a:r>
            <a:endParaRPr lang="en-US" sz="2825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0" y="1230087"/>
            <a:ext cx="10668000" cy="495300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Hardware &amp; Software Requirements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Timeline (Gantt Chart)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Innovation / Novel Contributions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SDG Mapping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9945" y="1280708"/>
            <a:ext cx="10667999" cy="2614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Design and development of a Trial App for students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Provides quizzes for self-assessment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Enables access to personalized content anytime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Tracks student performance and progress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Aims to create a user-friendly, engaging, and efficient platform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Supports continuous learning and academic growth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11200" y="1108979"/>
            <a:ext cx="10727559" cy="513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90000"/>
              </a:lnSpc>
              <a:spcBef>
                <a:spcPts val="0"/>
              </a:spcBef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Many students struggle to assess their knowledge effectively outside the classroom.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70000"/>
              </a:lnSpc>
              <a:spcBef>
                <a:spcPts val="0"/>
              </a:spcBef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90000"/>
              </a:lnSpc>
              <a:spcBef>
                <a:spcPts val="0"/>
              </a:spcBef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learning platforms often lack personalized content tailored to individual needs.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70000"/>
              </a:lnSpc>
              <a:spcBef>
                <a:spcPts val="0"/>
              </a:spcBef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90000"/>
              </a:lnSpc>
              <a:spcBef>
                <a:spcPts val="0"/>
              </a:spcBef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Students face difficulty in tracking their progress and identifying areas for improvement.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70000"/>
              </a:lnSpc>
              <a:spcBef>
                <a:spcPts val="0"/>
              </a:spcBef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There is a need for a simple, engaging, and accessible digital tool that combines quizzes with personalized learning resources.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Placeholder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12193" y="2151828"/>
            <a:ext cx="1026860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45931" y="1141603"/>
            <a:ext cx="10794124" cy="3335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design and develop a Trial App for students</a:t>
            </a: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provide interactive quizzes for self-assessment</a:t>
            </a: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enable access to personalized content anytime, anywhere</a:t>
            </a: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help students track their progress and improve performance</a:t>
            </a: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create a user-friendly and engaging learning experience</a:t>
            </a: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 support continuous learning and academic growth</a:t>
            </a: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529317" y="807422"/>
            <a:ext cx="11691258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152400" indent="0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Key Learnings: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95283" y="2110525"/>
            <a:ext cx="10184524" cy="3630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Studies show mobile learning and quiz-based tools improve engagement and learning gains.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Formative quizzes can predict and improve summative exam performance — they support retention and identify weak areas.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Adaptive / personalized learning systems (AI-driven) increase effectiveness by tailoring content and difficulty to the learner.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Learning analytics provide actionable insights (progress tracking, mastery indicators) and improve assessment design.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Literature Survey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495300" lvl="0" indent="-34290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Recent work on real-time adaptive quiz platforms reports higher engagement and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improved outcomes when feedback is immediate and differentiated. 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Gaps: many studies are domain-specific or lab-based; there is limited research on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integrated mobile quiz apps that combine adaptive algorithms, personalized content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delivery, and robust analytics in real classroom deployments. 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7"/>
            <a:ext cx="10668000" cy="68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Existing Methods &amp; Drawbacks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800340"/>
            <a:ext cx="646331" cy="895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12800" y="1517003"/>
            <a:ext cx="11084910" cy="3080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Lack of personalized learning content for individual needs.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Low student engagement due to limited interactivity.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Inadequate tracking of student progress and performance.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Disconnection between quizzes and learning resources.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Delayed or absent feedback after assessments.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Proposed Methodology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711200" y="836884"/>
            <a:ext cx="10668000" cy="537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620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Pipeline: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Requirement Analysis</a:t>
            </a:r>
            <a:r>
              <a:rPr lang="en-IN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Gather student needs and define app features through surveys and interviews.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System Design</a:t>
            </a:r>
            <a:r>
              <a:rPr lang="en-IN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IN" altLang="en-US" dirty="0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reate wireframes, architecture diagrams, and data flow models for the Trial App.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Development</a:t>
            </a:r>
            <a:r>
              <a:rPr lang="en-IN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Build the app with quiz functionality, personalized content delivery, and a progress tracker.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Integration of Feature</a:t>
            </a:r>
            <a:r>
              <a:rPr lang="en-IN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s: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Implement adaptive learning algorithms, instant feedback mechanisms, and analytics dashboards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Testing &amp; Feedback</a:t>
            </a:r>
            <a:r>
              <a:rPr lang="en-IN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Perform usability testing with target students and iterate based on feedback.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33400" indent="-457200">
              <a:buFont typeface="+mj-lt"/>
              <a:buAutoNum type="arabicPeriod"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Deployment &amp; Maintenance</a:t>
            </a:r>
            <a:r>
              <a:rPr lang="en-IN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Deploy on mobile platforms and continuously update based on usage analytics and user feedback</a:t>
            </a:r>
            <a:endParaRPr lang="en-US" alt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07932" y="248285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Placeholder 7" descr="trial_app_activity_diagram_simple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4407535" y="1037590"/>
            <a:ext cx="3093720" cy="51987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Modules</a:t>
            </a:r>
            <a:endParaRPr lang="en-IN" dirty="0"/>
          </a:p>
        </p:txBody>
      </p:sp>
      <p:sp>
        <p:nvSpPr>
          <p:cNvPr id="3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217005"/>
            <a:ext cx="10979807" cy="415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User Authentication Module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Handles student registration, login, and secure access.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Quiz Management Module</a:t>
            </a: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–</a:t>
            </a:r>
            <a:r>
              <a:rPr lang="en-IN" altLang="en-US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Provides quizzes, randomizes questions, collects responses, and generates instant feedback.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Content Delivery Module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</a:t>
            </a: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–</a:t>
            </a:r>
            <a:r>
              <a:rPr lang="en-IN" altLang="en-US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Gives access to notes, e-books, and video lectures with personalized recommendations.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Performance Tracking Module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</a:t>
            </a: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–</a:t>
            </a:r>
            <a:r>
              <a:rPr lang="en-IN" altLang="en-US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Maintains progress dashboards, shows scores, and highlights weak areas.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Analytics &amp; Recommendation Module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</a:t>
            </a:r>
            <a:r>
              <a:rPr lang="en-US" altLang="en-US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–</a:t>
            </a:r>
            <a:r>
              <a:rPr lang="en-IN" altLang="en-US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Analyzes quiz results and learning patterns to suggest personalized content.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84163"/>
            <a:ext cx="10668000" cy="487500"/>
          </a:xfrm>
        </p:spPr>
        <p:txBody>
          <a:bodyPr/>
          <a:lstStyle/>
          <a:p>
            <a:r>
              <a:rPr lang="en-IN" dirty="0"/>
              <a:t>Implementation Progress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 rot="10800000" flipV="1">
            <a:off x="812800" y="1106170"/>
            <a:ext cx="9529445" cy="5967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7620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lnSpc>
                <a:spcPct val="70000"/>
              </a:lnSpc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Completed so far: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Study material repository created with notes and video lectures uploaded.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Quiz module developed – students can attend quizzes and submit responses.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Score tracking feature integrated – students can check results after quizzes.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In Progress: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Personalized content delivery based on quiz performance.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Dashboard enhancement for detailed progress monitoring and weak-area analysis.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Planned: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Upload additional videos to expand the content library.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Add more quiz questions for wider practice coverage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sz="1400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Hardware &amp; Software Requirements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86757" y="1000801"/>
            <a:ext cx="10018486" cy="405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76200" indent="0">
              <a:buNone/>
            </a:pPr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Software:</a:t>
            </a:r>
            <a:endParaRPr lang="en-IN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Development Environment: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Android Studio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Programming Languages: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Java / Kotlin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Database &amp; Backend: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Firebase (Authentication, Firestore, Realtime Database, Cloud Storage)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Version Control: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GitHub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Operating System (for development):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Windows 10 / Linux / macOS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Emulators &amp; SDKs: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Android SDK, AVD for app testing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722" y="219075"/>
            <a:ext cx="7315200" cy="566700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Timeline (Gantt Chart)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229485" y="4605655"/>
            <a:ext cx="7315200" cy="198120"/>
          </a:xfrm>
        </p:spPr>
        <p:txBody>
          <a:bodyPr>
            <a:normAutofit fontScale="50000"/>
          </a:bodyPr>
          <a:p>
            <a:endParaRPr lang="en-US"/>
          </a:p>
        </p:txBody>
      </p:sp>
      <p:pic>
        <p:nvPicPr>
          <p:cNvPr id="8" name="Picture Placeholder 7" descr="Picture1"/>
          <p:cNvPicPr>
            <a:picLocks noChangeAspect="1"/>
          </p:cNvPicPr>
          <p:nvPr>
            <p:ph type="pic" idx="2"/>
          </p:nvPr>
        </p:nvPicPr>
        <p:blipFill>
          <a:blip r:embed="rId1"/>
          <a:stretch>
            <a:fillRect/>
          </a:stretch>
        </p:blipFill>
        <p:spPr>
          <a:xfrm>
            <a:off x="1760855" y="1088390"/>
            <a:ext cx="8252460" cy="49523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21628"/>
            <a:ext cx="10668000" cy="487500"/>
          </a:xfrm>
        </p:spPr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Innovation / Novel Contributions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2122" y="3735705"/>
            <a:ext cx="10668000" cy="4953000"/>
          </a:xfrm>
        </p:spPr>
        <p:txBody>
          <a:bodyPr/>
          <a:lstStyle/>
          <a:p>
            <a:pPr marL="76200" indent="0">
              <a:buNone/>
            </a:pPr>
            <a:r>
              <a:rPr lang="en-IN" sz="2800" b="1" dirty="0">
                <a:latin typeface="Cambria" panose="02040503050406030204" pitchFamily="18" charset="0"/>
                <a:ea typeface="Cambria" panose="02040503050406030204" pitchFamily="18" charset="0"/>
              </a:rPr>
              <a:t>SDG Mapping</a:t>
            </a:r>
            <a:endParaRPr lang="en-IN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SDG 4 – Quality Education</a:t>
            </a:r>
            <a:endParaRPr lang="en-US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SDG 8 – Decent Work and Economic Growth </a:t>
            </a:r>
            <a:endParaRPr lang="en-IN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98482" y="902717"/>
            <a:ext cx="10528300" cy="2526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Combines study material (videos, notes) and quizzes in a single mobile app.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Students can check quiz scores immediately and monitor progress in real time.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Adaptive content recommendations based on quiz performance.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Visual insights into strengths, weak areas, and overall academic growth</a:t>
            </a: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kumimoji="0" lang="en-I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Uses Firebase for secure authentication, data storage, and easy scalability</a:t>
            </a:r>
            <a:r>
              <a:rPr kumimoji="0" lang="en-I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kumimoji="0" lang="en-I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Ensures accessibility even with limited or no internet connectivity.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References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(in IEEE format)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1351915"/>
            <a:ext cx="10668000" cy="415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1" tooltip="" action="ppaction://hlinkfile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800080"/>
                      <wpsdc:hlinkUnderline xmlns:wpsdc="http://www.wps.cn/officeDocument/2017/drawingmlCustomData" val="1"/>
                    </a:ext>
                  </a:extLst>
                </a:hlinkClick>
              </a:rPr>
              <a:t>[1] A. Sortwell, K. Trimble, R. Ferraz, et al., “A systematic review of meta-analyses on the impact of formative assessment on K-12 students’ learning,” Sustainability, vol. 16, no. 3, pp. 1–24, 2024.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hlinkClick r:id="rId1" tooltip="" action="ppaction://hlinkfile">
                <a:extLst>
                  <a:ext uri="{DAF060AB-1E55-43B9-8AAB-6FB025537F2F}">
                    <wpsdc:hlinkClr xmlns:wpsdc="http://www.wps.cn/officeDocument/2017/drawingmlCustomData" val="0000FF"/>
                    <wpsdc:folHlinkClr xmlns:wpsdc="http://www.wps.cn/officeDocument/2017/drawingmlCustomData" val="800080"/>
                    <wpsdc:hlinkUnderline xmlns:wpsdc="http://www.wps.cn/officeDocument/2017/drawingmlCustomData" val="1"/>
                  </a:ext>
                </a:extLst>
              </a:hlinkClick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1" tooltip="" action="ppaction://hlinkfile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800080"/>
                      <wpsdc:hlinkUnderline xmlns:wpsdc="http://www.wps.cn/officeDocument/2017/drawingmlCustomData" val="1"/>
                    </a:ext>
                  </a:extLst>
                </a:hlinkClick>
              </a:rPr>
              <a:t>[2] N. Zhang, “Can formative quizzes predict or improve summative exam performance?,” Perspectives on Medical Education, vol. 4, no. 6, pp. 358–364, 2015.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hlinkClick r:id="rId1" tooltip="" action="ppaction://hlinkfile">
                <a:extLst>
                  <a:ext uri="{DAF060AB-1E55-43B9-8AAB-6FB025537F2F}">
                    <wpsdc:hlinkClr xmlns:wpsdc="http://www.wps.cn/officeDocument/2017/drawingmlCustomData" val="0000FF"/>
                    <wpsdc:folHlinkClr xmlns:wpsdc="http://www.wps.cn/officeDocument/2017/drawingmlCustomData" val="800080"/>
                    <wpsdc:hlinkUnderline xmlns:wpsdc="http://www.wps.cn/officeDocument/2017/drawingmlCustomData" val="1"/>
                  </a:ext>
                </a:extLst>
              </a:hlinkClick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1" tooltip="" action="ppaction://hlinkfile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800080"/>
                      <wpsdc:hlinkUnderline xmlns:wpsdc="http://www.wps.cn/officeDocument/2017/drawingmlCustomData" val="1"/>
                    </a:ext>
                  </a:extLst>
                </a:hlinkClick>
              </a:rPr>
              <a:t>[3] Q. Xuan, “The effectiveness of formative assessment for enhancing learning in higher education: A systematic review,” Frontiers in Psychology, vol. 13, pp. 1–12, 2022.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hlinkClick r:id="rId1" tooltip="" action="ppaction://hlinkfile">
                <a:extLst>
                  <a:ext uri="{DAF060AB-1E55-43B9-8AAB-6FB025537F2F}">
                    <wpsdc:hlinkClr xmlns:wpsdc="http://www.wps.cn/officeDocument/2017/drawingmlCustomData" val="0000FF"/>
                    <wpsdc:folHlinkClr xmlns:wpsdc="http://www.wps.cn/officeDocument/2017/drawingmlCustomData" val="800080"/>
                    <wpsdc:hlinkUnderline xmlns:wpsdc="http://www.wps.cn/officeDocument/2017/drawingmlCustomData" val="1"/>
                  </a:ext>
                </a:extLst>
              </a:hlinkClick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1" tooltip="" action="ppaction://hlinkfile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800080"/>
                      <wpsdc:hlinkUnderline xmlns:wpsdc="http://www.wps.cn/officeDocument/2017/drawingmlCustomData" val="1"/>
                    </a:ext>
                  </a:extLst>
                </a:hlinkClick>
              </a:rPr>
              <a:t>[4] R. Krishnan, “Smart analysis of learners’ performance using learning analytics,” Education Sciences, vol. 12, no. 8, pp. 1–18, 2022.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References </a:t>
            </a:r>
            <a:r>
              <a:rPr lang="en-IN" i="1" dirty="0">
                <a:latin typeface="Cambria" panose="02040503050406030204" pitchFamily="18" charset="0"/>
                <a:ea typeface="Cambria" panose="02040503050406030204" pitchFamily="18" charset="0"/>
              </a:rPr>
              <a:t>(in IEEE format)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975" y="1243518"/>
            <a:ext cx="9897241" cy="2306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1" tooltip="" action="ppaction://hlinkfile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800080"/>
                      <wpsdc:hlinkUnderline xmlns:wpsdc="http://www.wps.cn/officeDocument/2017/drawingmlCustomData" val="1"/>
                    </a:ext>
                  </a:extLst>
                </a:hlinkClick>
              </a:rPr>
              <a:t>[5] K. I. Vorobyeva, A. S. Kiryakova, and A. S. Kolesnikov, “Personalized learning through AI: Pedagogical approaches and critical insights,” Contemporary Educational Technology, vol. 17, no. 2, pp. 1–15, 2025.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hlinkClick r:id="rId1" tooltip="" action="ppaction://hlinkfile">
                <a:extLst>
                  <a:ext uri="{DAF060AB-1E55-43B9-8AAB-6FB025537F2F}">
                    <wpsdc:hlinkClr xmlns:wpsdc="http://www.wps.cn/officeDocument/2017/drawingmlCustomData" val="0000FF"/>
                    <wpsdc:folHlinkClr xmlns:wpsdc="http://www.wps.cn/officeDocument/2017/drawingmlCustomData" val="800080"/>
                    <wpsdc:hlinkUnderline xmlns:wpsdc="http://www.wps.cn/officeDocument/2017/drawingmlCustomData" val="1"/>
                  </a:ext>
                </a:extLst>
              </a:hlinkClick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hlinkClick r:id="rId1" tooltip="" action="ppaction://hlinkfile">
                  <a:extLst>
                    <a:ext uri="{DAF060AB-1E55-43B9-8AAB-6FB025537F2F}">
                      <wpsdc:hlinkClr xmlns:wpsdc="http://www.wps.cn/officeDocument/2017/drawingmlCustomData" val="0000FF"/>
                      <wpsdc:folHlinkClr xmlns:wpsdc="http://www.wps.cn/officeDocument/2017/drawingmlCustomData" val="800080"/>
                      <wpsdc:hlinkUnderline xmlns:wpsdc="http://www.wps.cn/officeDocument/2017/drawingmlCustomData" val="1"/>
                    </a:ext>
                  </a:extLst>
                </a:hlinkClick>
              </a:rPr>
              <a:t>[6] “Exploring the impact of adaptive real-time quiz platforms on learning performance,” International Journal of Information and Education Technology, vol. 15, no. 3, pp. 221–229, 2025.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6782</Words>
  <Application>WPS Presentation</Application>
  <PresentationFormat>Widescreen</PresentationFormat>
  <Paragraphs>220</Paragraphs>
  <Slides>19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SimSun</vt:lpstr>
      <vt:lpstr>Wingdings</vt:lpstr>
      <vt:lpstr>Arial</vt:lpstr>
      <vt:lpstr>Verdana</vt:lpstr>
      <vt:lpstr>Bookman Old Style</vt:lpstr>
      <vt:lpstr>Cambria</vt:lpstr>
      <vt:lpstr>Microsoft YaHei</vt:lpstr>
      <vt:lpstr>Arial Unicode MS</vt:lpstr>
      <vt:lpstr>Bioinformatics</vt:lpstr>
      <vt:lpstr>Ideate and implement a system to enhance the quality of education in rural areas.</vt:lpstr>
      <vt:lpstr>Content</vt:lpstr>
      <vt:lpstr>Content</vt:lpstr>
      <vt:lpstr>Abstract</vt:lpstr>
      <vt:lpstr>Problem Statement</vt:lpstr>
      <vt:lpstr>Objectives</vt:lpstr>
      <vt:lpstr>Literature Survey </vt:lpstr>
      <vt:lpstr>Literature Survey </vt:lpstr>
      <vt:lpstr>Existing Methods &amp; Drawbacks</vt:lpstr>
      <vt:lpstr>Proposed Methodology</vt:lpstr>
      <vt:lpstr>Architecture Diagram</vt:lpstr>
      <vt:lpstr>Modules</vt:lpstr>
      <vt:lpstr>Implementation Progress</vt:lpstr>
      <vt:lpstr>Hardware &amp; Software Requirements</vt:lpstr>
      <vt:lpstr>Timeline (Gantt Chart)</vt:lpstr>
      <vt:lpstr>Innovation / Novel Contributions</vt:lpstr>
      <vt:lpstr>References (in IEEE format)</vt:lpstr>
      <vt:lpstr>References (in IEEE format)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Tarishma Sai</cp:lastModifiedBy>
  <cp:revision>44</cp:revision>
  <dcterms:created xsi:type="dcterms:W3CDTF">2025-09-30T05:35:00Z</dcterms:created>
  <dcterms:modified xsi:type="dcterms:W3CDTF">2025-11-10T07:48:11Z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D9D707B1ABA24503805F2D96797959FB_12</vt:lpwstr>
  </property>
  <property fmtid="{D5CDD505-2E9C-101B-9397-08002B2CF9AE}" pid="3" name="KSOProductBuildVer">
    <vt:lpwstr>1033-12.2.0.23155</vt:lpwstr>
  </property>
</Properties>
</file>