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9" r:id="rId5"/>
    <p:sldId id="275" r:id="rId6"/>
    <p:sldId id="276" r:id="rId7"/>
    <p:sldId id="277" r:id="rId8"/>
    <p:sldId id="274"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3" d="100"/>
          <a:sy n="73" d="100"/>
        </p:scale>
        <p:origin x="10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s://github.com/sabafareen/Ideate-and-implement-a-system-to-enhance-the-quality-of-education-in-rural-areas."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hyperlink" Target="%5b1%5d%20D.%20Patel,%20A.%20Gupta,%20and%20R.%20Sharma,%20&#8220;Design%20of%20Offline%20Learning%20Management%20System%20using%20ESP32%20Microcontroller%20for%20Rural%20Education,&#8221;%20International%20Journal%20of%20Emerging%20Technologies%20in%20Learning,%20vol.%2018,%20no.%202,%20pp.%2045&#8211;54,%202023."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t>Ideate and implement a system to enhance the quality of education in rural areas.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a:t>
            </a:r>
            <a:r>
              <a:rPr lang="en-IN" sz="1800" dirty="0">
                <a:latin typeface="Cambria" panose="02040503050406030204" pitchFamily="18" charset="0"/>
                <a:ea typeface="Cambria" panose="02040503050406030204" pitchFamily="18" charset="0"/>
              </a:rPr>
              <a:t>COM_21</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Mr.</a:t>
            </a:r>
            <a:r>
              <a:rPr lang="en-IN" dirty="0"/>
              <a:t>.</a:t>
            </a:r>
            <a:r>
              <a:rPr lang="en-IN" sz="1600" b="1" dirty="0">
                <a:latin typeface="Cambria" panose="02040503050406030204" pitchFamily="18" charset="0"/>
                <a:ea typeface="Cambria" panose="02040503050406030204" pitchFamily="18" charset="0"/>
              </a:rPr>
              <a:t>Sunil Kumar Sahoo</a:t>
            </a:r>
            <a:endParaRPr sz="1600"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dirty="0">
                <a:latin typeface="Cambria" panose="02040503050406030204" pitchFamily="18" charset="0"/>
                <a:ea typeface="Cambria" panose="02040503050406030204" pitchFamily="18" charset="0"/>
              </a:rPr>
              <a:t>B-Tech(COM)</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sz="1600" b="1" dirty="0"/>
              <a:t>Dr. Pallavi R </a:t>
            </a:r>
            <a:endParaRPr lang="en-IN" sz="1600" b="1" dirty="0"/>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a:t>
            </a:r>
            <a:r>
              <a:rPr lang="en-IN" sz="1800" dirty="0"/>
              <a:t> </a:t>
            </a:r>
            <a:r>
              <a:rPr lang="en-IN" sz="1800" b="1" dirty="0"/>
              <a:t>Ms. Benitha Christinal J</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3" name="Table 2"/>
          <p:cNvGraphicFramePr>
            <a:graphicFrameLocks noGrp="1"/>
          </p:cNvGraphicFramePr>
          <p:nvPr/>
        </p:nvGraphicFramePr>
        <p:xfrm>
          <a:off x="390236" y="2687320"/>
          <a:ext cx="6010564" cy="1483360"/>
        </p:xfrm>
        <a:graphic>
          <a:graphicData uri="http://schemas.openxmlformats.org/drawingml/2006/table">
            <a:tbl>
              <a:tblPr firstRow="1" bandRow="1"/>
              <a:tblGrid>
                <a:gridCol w="3005282"/>
                <a:gridCol w="3005282"/>
              </a:tblGrid>
              <a:tr h="370840">
                <a:tc>
                  <a:txBody>
                    <a:bodyPr/>
                    <a:lstStyle/>
                    <a:p>
                      <a:r>
                        <a:rPr lang="en-GB" sz="1600" b="1" u="none" strike="noStrike" cap="none" dirty="0">
                          <a:solidFill>
                            <a:srgbClr val="17365D"/>
                          </a:solidFill>
                          <a:latin typeface="Cambria" panose="02040503050406030204" pitchFamily="18" charset="0"/>
                          <a:ea typeface="Cambria" panose="02040503050406030204" pitchFamily="18" charset="0"/>
                        </a:rPr>
                        <a:t> Roll Number</a:t>
                      </a:r>
                      <a:endParaRPr lang="en-IN" sz="1600" dirty="0">
                        <a:latin typeface="Cambria" panose="02040503050406030204" pitchFamily="18" charset="0"/>
                        <a:ea typeface="Cambria" panose="02040503050406030204" pitchFamily="18" charset="0"/>
                      </a:endParaRPr>
                    </a:p>
                  </a:txBody>
                  <a:tcPr/>
                </a:tc>
                <a:tc>
                  <a:txBody>
                    <a:bodyPr/>
                    <a:lstStyle/>
                    <a:p>
                      <a:r>
                        <a:rPr lang="en-IN" sz="1600" dirty="0">
                          <a:latin typeface="Cambria" panose="02040503050406030204" pitchFamily="18" charset="0"/>
                          <a:ea typeface="Cambria" panose="02040503050406030204" pitchFamily="18" charset="0"/>
                        </a:rPr>
                        <a:t>Student Name</a:t>
                      </a:r>
                      <a:endParaRPr lang="en-IN" sz="1600" dirty="0">
                        <a:latin typeface="Cambria" panose="02040503050406030204" pitchFamily="18" charset="0"/>
                        <a:ea typeface="Cambria" panose="02040503050406030204" pitchFamily="18" charset="0"/>
                      </a:endParaRPr>
                    </a:p>
                  </a:txBody>
                  <a:tcPr/>
                </a:tc>
              </a:tr>
              <a:tr h="370840">
                <a:tc>
                  <a:txBody>
                    <a:bodyPr/>
                    <a:lstStyle/>
                    <a:p>
                      <a:r>
                        <a:rPr lang="en-IN" sz="1600" dirty="0">
                          <a:latin typeface="Cambria" panose="02040503050406030204" pitchFamily="18" charset="0"/>
                          <a:ea typeface="Cambria" panose="02040503050406030204" pitchFamily="18" charset="0"/>
                        </a:rPr>
                        <a:t>20221COM0019</a:t>
                      </a:r>
                      <a:endParaRPr lang="en-IN" sz="1600" dirty="0">
                        <a:latin typeface="Cambria" panose="02040503050406030204" pitchFamily="18" charset="0"/>
                        <a:ea typeface="Cambria" panose="02040503050406030204" pitchFamily="18" charset="0"/>
                      </a:endParaRPr>
                    </a:p>
                  </a:txBody>
                  <a:tcPr/>
                </a:tc>
                <a:tc>
                  <a:txBody>
                    <a:bodyPr/>
                    <a:lstStyle/>
                    <a:p>
                      <a:r>
                        <a:rPr lang="en-IN" sz="1600" dirty="0">
                          <a:latin typeface="Cambria" panose="02040503050406030204" pitchFamily="18" charset="0"/>
                          <a:ea typeface="Cambria" panose="02040503050406030204" pitchFamily="18" charset="0"/>
                        </a:rPr>
                        <a:t>Makandar Saba Fareen</a:t>
                      </a:r>
                      <a:endParaRPr lang="en-IN" sz="1600" dirty="0">
                        <a:latin typeface="Cambria" panose="02040503050406030204" pitchFamily="18" charset="0"/>
                        <a:ea typeface="Cambria" panose="02040503050406030204" pitchFamily="18" charset="0"/>
                      </a:endParaRPr>
                    </a:p>
                  </a:txBody>
                  <a:tcPr/>
                </a:tc>
              </a:tr>
              <a:tr h="370840">
                <a:tc>
                  <a:txBody>
                    <a:bodyPr/>
                    <a:lstStyle/>
                    <a:p>
                      <a:r>
                        <a:rPr lang="en-IN" sz="1600" dirty="0">
                          <a:latin typeface="Cambria" panose="02040503050406030204" pitchFamily="18" charset="0"/>
                          <a:ea typeface="Cambria" panose="02040503050406030204" pitchFamily="18" charset="0"/>
                        </a:rPr>
                        <a:t>20221COM0052</a:t>
                      </a:r>
                      <a:endParaRPr lang="en-IN" sz="1600" dirty="0">
                        <a:latin typeface="Cambria" panose="02040503050406030204" pitchFamily="18" charset="0"/>
                        <a:ea typeface="Cambria" panose="02040503050406030204" pitchFamily="18" charset="0"/>
                      </a:endParaRPr>
                    </a:p>
                  </a:txBody>
                  <a:tcPr/>
                </a:tc>
                <a:tc>
                  <a:txBody>
                    <a:bodyPr/>
                    <a:lstStyle/>
                    <a:p>
                      <a:r>
                        <a:rPr lang="en-IN" sz="1600" dirty="0">
                          <a:latin typeface="Cambria" panose="02040503050406030204" pitchFamily="18" charset="0"/>
                          <a:ea typeface="Cambria" panose="02040503050406030204" pitchFamily="18" charset="0"/>
                        </a:rPr>
                        <a:t>Pikkili Sai Tarishma</a:t>
                      </a:r>
                      <a:endParaRPr lang="en-IN" sz="1600" dirty="0">
                        <a:latin typeface="Cambria" panose="02040503050406030204" pitchFamily="18" charset="0"/>
                        <a:ea typeface="Cambria" panose="02040503050406030204" pitchFamily="18" charset="0"/>
                      </a:endParaRPr>
                    </a:p>
                  </a:txBody>
                  <a:tcPr/>
                </a:tc>
              </a:tr>
              <a:tr h="370840">
                <a:tc>
                  <a:txBody>
                    <a:bodyPr/>
                    <a:lstStyle/>
                    <a:p>
                      <a:r>
                        <a:rPr lang="en-IN" sz="1600" dirty="0">
                          <a:latin typeface="Cambria" panose="02040503050406030204" pitchFamily="18" charset="0"/>
                          <a:ea typeface="Cambria" panose="02040503050406030204" pitchFamily="18" charset="0"/>
                        </a:rPr>
                        <a:t>20221COM0039</a:t>
                      </a:r>
                      <a:endParaRPr lang="en-IN" sz="1600" dirty="0">
                        <a:latin typeface="Cambria" panose="02040503050406030204" pitchFamily="18" charset="0"/>
                        <a:ea typeface="Cambria" panose="02040503050406030204" pitchFamily="18" charset="0"/>
                      </a:endParaRPr>
                    </a:p>
                  </a:txBody>
                  <a:tcPr/>
                </a:tc>
                <a:tc>
                  <a:txBody>
                    <a:bodyPr/>
                    <a:lstStyle/>
                    <a:p>
                      <a:r>
                        <a:rPr lang="en-IN" sz="1600" dirty="0">
                          <a:latin typeface="Cambria" panose="02040503050406030204" pitchFamily="18" charset="0"/>
                          <a:ea typeface="Cambria" panose="02040503050406030204" pitchFamily="18" charset="0"/>
                        </a:rPr>
                        <a:t>Billa SunilKumar</a:t>
                      </a:r>
                      <a:endParaRPr lang="en-IN" sz="1600" dirty="0">
                        <a:latin typeface="Cambria" panose="02040503050406030204" pitchFamily="18" charset="0"/>
                        <a:ea typeface="Cambria" panose="02040503050406030204" pitchFamily="18"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Problem </a:t>
            </a:r>
            <a:r>
              <a:rPr lang="en-GB">
                <a:latin typeface="Cambria" panose="02040503050406030204" pitchFamily="18" charset="0"/>
                <a:ea typeface="Cambria" panose="02040503050406030204" pitchFamily="18" charset="0"/>
              </a:rPr>
              <a:t>Statement :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0"/>
            <a:ext cx="10976610" cy="5405755"/>
          </a:xfrm>
          <a:prstGeom prst="rect">
            <a:avLst/>
          </a:prstGeom>
          <a:noFill/>
          <a:ln>
            <a:noFill/>
          </a:ln>
        </p:spPr>
        <p:txBody>
          <a:bodyPr spcFirstLastPara="1" wrap="square" lIns="91425" tIns="45700" rIns="91425" bIns="45700" anchor="t" anchorCtr="0">
            <a:normAutofit fontScale="7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US" dirty="0">
                <a:latin typeface="Cambria" panose="02040503050406030204" pitchFamily="18" charset="0"/>
                <a:ea typeface="Cambria" panose="02040503050406030204" pitchFamily="18" charset="0"/>
              </a:rPr>
              <a:t>Presidency University</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 </a:t>
            </a:r>
            <a:r>
              <a:rPr lang="en-US" dirty="0">
                <a:latin typeface="Cambria" panose="02040503050406030204" pitchFamily="18" charset="0"/>
                <a:ea typeface="Cambria" panose="02040503050406030204" pitchFamily="18" charset="0"/>
              </a:rPr>
              <a:t>Software </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endParaRPr lang="en-US" b="1" dirty="0">
              <a:latin typeface="Cambria" panose="02040503050406030204" pitchFamily="18" charset="0"/>
              <a:ea typeface="Cambria" panose="02040503050406030204" pitchFamily="18" charset="0"/>
            </a:endParaRPr>
          </a:p>
          <a:p>
            <a:pPr marL="342900" lvl="0" indent="-190500" algn="l">
              <a:lnSpc>
                <a:spcPct val="200000"/>
              </a:lnSpc>
              <a:spcBef>
                <a:spcPts val="0"/>
              </a:spcBef>
              <a:buNone/>
            </a:pPr>
            <a:r>
              <a:rPr lang="en-US" dirty="0">
                <a:latin typeface="Cambria" panose="02040503050406030204" pitchFamily="18" charset="0"/>
                <a:ea typeface="Cambria" panose="02040503050406030204" pitchFamily="18" charset="0"/>
              </a:rPr>
              <a:t>  </a:t>
            </a:r>
            <a:r>
              <a:rPr lang="en-US" altLang="en-US" dirty="0">
                <a:latin typeface="Cambria" panose="02040503050406030204" pitchFamily="18" charset="0"/>
                <a:ea typeface="Cambria" panose="02040503050406030204" pitchFamily="18" charset="0"/>
              </a:rPr>
              <a:t> In many rural areas, trails remain undocumented, poorly maintained, or difficult to access due to a lack of reliable information. Students and community members often struggle with limited resources, weak internet connectivity, and language barriers that prevent them from using existing trail applications. Current platforms are designed mainly for recreational users in urban contexts, overlooking the educational and safety needs of rural students. This gap results in missed opportunities for outdoor learning, reduced community engagement, and challenges in preserving local knowledge and safe navigation of natural spaces.</a:t>
            </a: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4"/>
          <p:cNvSpPr txBox="1">
            <a:spLocks noGrp="1"/>
          </p:cNvSpPr>
          <p:nvPr>
            <p:ph type="body" idx="1"/>
          </p:nvPr>
        </p:nvSpPr>
        <p:spPr>
          <a:xfrm>
            <a:off x="655782" y="762139"/>
            <a:ext cx="10668000" cy="5294416"/>
          </a:xfrm>
          <a:prstGeom prst="rect">
            <a:avLst/>
          </a:prstGeom>
          <a:noFill/>
          <a:ln>
            <a:noFill/>
          </a:ln>
        </p:spPr>
        <p:txBody>
          <a:bodyPr spcFirstLastPara="1" wrap="square" lIns="91425" tIns="45700" rIns="91425" bIns="45700" anchor="t" anchorCtr="0">
            <a:normAutofit lnSpcReduction="10000"/>
          </a:bodyPr>
          <a:lstStyle/>
          <a:p>
            <a:pPr marL="152400" indent="0" algn="just">
              <a:lnSpc>
                <a:spcPct val="200000"/>
              </a:lnSpc>
              <a:spcBef>
                <a:spcPts val="0"/>
              </a:spcBef>
              <a:buNone/>
            </a:pPr>
            <a:r>
              <a:rPr lang="en-US" b="1" u="sng" dirty="0"/>
              <a:t>Problem Statement:</a:t>
            </a:r>
            <a:endParaRPr lang="en-US" b="1" u="sng" dirty="0">
              <a:latin typeface="Cambria" panose="02040503050406030204" pitchFamily="18" charset="0"/>
              <a:ea typeface="Cambria" panose="02040503050406030204" pitchFamily="18" charset="0"/>
            </a:endParaRPr>
          </a:p>
          <a:p>
            <a:pPr marL="152400" indent="0" algn="just">
              <a:spcBef>
                <a:spcPts val="0"/>
              </a:spcBef>
              <a:buNone/>
            </a:pPr>
            <a:r>
              <a:rPr lang="en-US" altLang="en-US" sz="1800" dirty="0">
                <a:latin typeface="Cambria" panose="02040503050406030204" pitchFamily="18" charset="0"/>
                <a:ea typeface="Cambria" panose="02040503050406030204" pitchFamily="18" charset="0"/>
              </a:rPr>
              <a:t>Rural students lack access to quality learning resources, teacher support, and performance tracking. Despite rising smartphone and internet use, no dedicated Android app exists to address these needs, limiting the role of technology in improving rural education.</a:t>
            </a:r>
            <a:endParaRPr lang="en-US" altLang="en-US" sz="1800" dirty="0">
              <a:latin typeface="Cambria" panose="02040503050406030204" pitchFamily="18" charset="0"/>
              <a:ea typeface="Cambria" panose="02040503050406030204" pitchFamily="18" charset="0"/>
            </a:endParaRPr>
          </a:p>
          <a:p>
            <a:pPr marL="152400" indent="0" algn="just">
              <a:spcBef>
                <a:spcPts val="0"/>
              </a:spcBef>
              <a:buNone/>
            </a:pPr>
            <a:endParaRPr lang="en-US" sz="1700" dirty="0">
              <a:latin typeface="Verdana" panose="020B0604030504040204" pitchFamily="34" charset="0"/>
              <a:ea typeface="Verdana" panose="020B0604030504040204" pitchFamily="34" charset="0"/>
            </a:endParaRPr>
          </a:p>
          <a:p>
            <a:pPr marL="76200" indent="0">
              <a:buNone/>
            </a:pPr>
            <a:r>
              <a:rPr lang="en-US" sz="1800" b="1" u="sng" dirty="0"/>
              <a:t>Objectives:</a:t>
            </a:r>
            <a:endParaRPr lang="en-US" sz="1800" b="1" u="sng" dirty="0"/>
          </a:p>
          <a:p>
            <a:pPr marL="76200" indent="0">
              <a:buNone/>
            </a:pPr>
            <a:endParaRPr lang="en-US" sz="1800" b="1" u="sng" dirty="0"/>
          </a:p>
          <a:p>
            <a:r>
              <a:rPr lang="en-US" altLang="en-US" sz="1800" dirty="0">
                <a:latin typeface="Cambria" panose="02040503050406030204" pitchFamily="18" charset="0"/>
                <a:ea typeface="Cambria" panose="02040503050406030204" pitchFamily="18" charset="0"/>
              </a:rPr>
              <a:t>Provide access to digital learning materials for registered students</a:t>
            </a:r>
            <a:endParaRPr lang="en-US" altLang="en-US" sz="1800" dirty="0">
              <a:latin typeface="Cambria" panose="02040503050406030204" pitchFamily="18" charset="0"/>
              <a:ea typeface="Cambria" panose="02040503050406030204" pitchFamily="18" charset="0"/>
            </a:endParaRPr>
          </a:p>
          <a:p>
            <a:r>
              <a:rPr lang="en-US" altLang="en-US" sz="1800" dirty="0">
                <a:latin typeface="Cambria" panose="02040503050406030204" pitchFamily="18" charset="0"/>
                <a:ea typeface="Cambria" panose="02040503050406030204" pitchFamily="18" charset="0"/>
              </a:rPr>
              <a:t>Offer recorded classes or lectures that students can listen to anytime.</a:t>
            </a:r>
            <a:endParaRPr lang="en-US" altLang="en-US" sz="1800" dirty="0">
              <a:latin typeface="Cambria" panose="02040503050406030204" pitchFamily="18" charset="0"/>
              <a:ea typeface="Cambria" panose="02040503050406030204" pitchFamily="18" charset="0"/>
            </a:endParaRPr>
          </a:p>
          <a:p>
            <a:r>
              <a:rPr lang="en-US" altLang="en-US" sz="1800" dirty="0">
                <a:latin typeface="Cambria" panose="02040503050406030204" pitchFamily="18" charset="0"/>
                <a:ea typeface="Cambria" panose="02040503050406030204" pitchFamily="18" charset="0"/>
              </a:rPr>
              <a:t>Enable students to take quizzes directly within the app</a:t>
            </a:r>
            <a:endParaRPr lang="en-US" altLang="en-US" sz="1800" dirty="0">
              <a:latin typeface="Cambria" panose="02040503050406030204" pitchFamily="18" charset="0"/>
              <a:ea typeface="Cambria" panose="02040503050406030204" pitchFamily="18" charset="0"/>
            </a:endParaRPr>
          </a:p>
          <a:p>
            <a:r>
              <a:rPr lang="en-US" altLang="en-US" sz="1800" dirty="0">
                <a:latin typeface="Cambria" panose="02040503050406030204" pitchFamily="18" charset="0"/>
                <a:ea typeface="Cambria" panose="02040503050406030204" pitchFamily="18" charset="0"/>
              </a:rPr>
              <a:t>Track and display individual progress for each registered student.</a:t>
            </a:r>
            <a:endParaRPr lang="en-US" altLang="en-US" sz="1800" dirty="0">
              <a:latin typeface="Cambria" panose="02040503050406030204" pitchFamily="18" charset="0"/>
              <a:ea typeface="Cambria" panose="02040503050406030204" pitchFamily="18" charset="0"/>
            </a:endParaRPr>
          </a:p>
          <a:p>
            <a:r>
              <a:rPr lang="en-US" altLang="en-US" sz="1800" dirty="0">
                <a:latin typeface="Cambria" panose="02040503050406030204" pitchFamily="18" charset="0"/>
                <a:ea typeface="Cambria" panose="02040503050406030204" pitchFamily="18" charset="0"/>
              </a:rPr>
              <a:t>Maintain secure student registration and login for personalized access.</a:t>
            </a:r>
            <a:endParaRPr lang="en-US" altLang="en-US" sz="1800" dirty="0">
              <a:latin typeface="Cambria" panose="02040503050406030204" pitchFamily="18" charset="0"/>
              <a:ea typeface="Cambria" panose="02040503050406030204" pitchFamily="18" charset="0"/>
            </a:endParaRPr>
          </a:p>
          <a:p>
            <a:r>
              <a:rPr lang="en-US" altLang="en-US" sz="1800" dirty="0">
                <a:latin typeface="Cambria" panose="02040503050406030204" pitchFamily="18" charset="0"/>
                <a:ea typeface="Cambria" panose="02040503050406030204" pitchFamily="18" charset="0"/>
              </a:rPr>
              <a:t>Enhance engagement through an interactive and user-friendly mobile interface.</a:t>
            </a:r>
            <a:endParaRPr lang="en-US" altLang="en-US" sz="1800" dirty="0">
              <a:latin typeface="Cambria" panose="02040503050406030204" pitchFamily="18" charset="0"/>
              <a:ea typeface="Cambria" panose="02040503050406030204" pitchFamily="18" charset="0"/>
            </a:endParaRPr>
          </a:p>
          <a:p>
            <a:pPr marL="152400" indent="0" algn="just">
              <a:lnSpc>
                <a:spcPct val="200000"/>
              </a:lnSpc>
              <a:spcBef>
                <a:spcPts val="0"/>
              </a:spcBef>
              <a:buNone/>
            </a:pPr>
            <a:endParaRPr lang="en-US" altLang="en-US" sz="1800" b="1" dirty="0">
              <a:latin typeface="Cambria" panose="02040503050406030204" pitchFamily="18" charset="0"/>
              <a:ea typeface="Verdana" panose="020B0604030504040204" pitchFamily="34" charset="0"/>
              <a:cs typeface="Cambria" panose="02040503050406030204" pitchFamily="18" charset="0"/>
            </a:endParaRPr>
          </a:p>
        </p:txBody>
      </p:sp>
      <p:sp>
        <p:nvSpPr>
          <p:cNvPr id="5" name="TextBox 4"/>
          <p:cNvSpPr txBox="1"/>
          <p:nvPr/>
        </p:nvSpPr>
        <p:spPr>
          <a:xfrm>
            <a:off x="5637007" y="2974489"/>
            <a:ext cx="914400" cy="914400"/>
          </a:xfrm>
          <a:prstGeom prst="rect">
            <a:avLst/>
          </a:prstGeom>
          <a:noFill/>
        </p:spPr>
        <p:txBody>
          <a:bodyPr wrap="square" rtlCol="0">
            <a:spAutoFit/>
          </a:bodyPr>
          <a:lstStyle/>
          <a:p>
            <a:endParaRPr lang="en-IN" dirty="0"/>
          </a:p>
        </p:txBody>
      </p:sp>
      <p:sp>
        <p:nvSpPr>
          <p:cNvPr id="6" name="TextBox 5"/>
          <p:cNvSpPr txBox="1"/>
          <p:nvPr/>
        </p:nvSpPr>
        <p:spPr>
          <a:xfrm>
            <a:off x="5151062" y="3966883"/>
            <a:ext cx="184731" cy="307777"/>
          </a:xfrm>
          <a:prstGeom prst="rect">
            <a:avLst/>
          </a:prstGeom>
          <a:noFill/>
        </p:spPr>
        <p:txBody>
          <a:bodyPr wrap="square" rtlCol="0">
            <a:spAutoFit/>
          </a:bodyPr>
          <a:lstStyle/>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4"/>
          <p:cNvSpPr txBox="1">
            <a:spLocks noGrp="1"/>
          </p:cNvSpPr>
          <p:nvPr>
            <p:ph type="body" idx="1"/>
          </p:nvPr>
        </p:nvSpPr>
        <p:spPr>
          <a:xfrm>
            <a:off x="655782" y="762139"/>
            <a:ext cx="10668000" cy="5294416"/>
          </a:xfrm>
          <a:prstGeom prst="rect">
            <a:avLst/>
          </a:prstGeom>
          <a:noFill/>
          <a:ln>
            <a:noFill/>
          </a:ln>
        </p:spPr>
        <p:txBody>
          <a:bodyPr spcFirstLastPara="1" wrap="square" lIns="91425" tIns="45700" rIns="91425" bIns="45700" anchor="t" anchorCtr="0">
            <a:normAutofit/>
          </a:bodyPr>
          <a:lstStyle/>
          <a:p>
            <a:pPr marL="152400" indent="0" algn="just">
              <a:lnSpc>
                <a:spcPct val="200000"/>
              </a:lnSpc>
              <a:spcBef>
                <a:spcPts val="0"/>
              </a:spcBef>
              <a:buNone/>
            </a:pPr>
            <a:r>
              <a:rPr lang="en-US" sz="1600" b="1" dirty="0"/>
              <a:t>Background &amp; Related Work:</a:t>
            </a:r>
            <a:endParaRPr lang="en-US" sz="1600" b="1" dirty="0"/>
          </a:p>
          <a:p>
            <a:pPr marL="152400" indent="0" algn="just">
              <a:spcBef>
                <a:spcPts val="0"/>
              </a:spcBef>
              <a:buNone/>
            </a:pPr>
            <a:r>
              <a:rPr lang="en-US" altLang="en-US" sz="1800" dirty="0">
                <a:latin typeface="Cambria" panose="02040503050406030204" pitchFamily="18" charset="0"/>
                <a:ea typeface="Cambria" panose="02040503050406030204" pitchFamily="18" charset="0"/>
              </a:rPr>
              <a:t>Students in rural areas often lack reliable information about local trails, which limits safe access and outdoor learning opportunities. Existing trail apps such as AllTrails or HikeFit mainly focus on urban recreational users, depend on constant internet, and overlook the needs of rural students. Research on participatory mapping and projects like OpenStreetMap demonstrate how community-driven approaches can successfully document trails and engage local youth. Building on these efforts, a student-centered, lightweight, and offline-capable solution can better support education and community stewardship.</a:t>
            </a:r>
            <a:endParaRPr lang="en-US" altLang="en-US" sz="1800" dirty="0">
              <a:latin typeface="Cambria" panose="02040503050406030204" pitchFamily="18" charset="0"/>
              <a:ea typeface="Cambria" panose="02040503050406030204" pitchFamily="18" charset="0"/>
            </a:endParaRPr>
          </a:p>
          <a:p>
            <a:pPr marL="152400" indent="0" algn="just">
              <a:spcBef>
                <a:spcPts val="0"/>
              </a:spcBef>
              <a:buNone/>
            </a:pPr>
            <a:endParaRPr lang="en-US" sz="1800" dirty="0"/>
          </a:p>
          <a:p>
            <a:pPr marL="152400" indent="0" algn="just">
              <a:spcBef>
                <a:spcPts val="0"/>
              </a:spcBef>
              <a:buNone/>
            </a:pPr>
            <a:r>
              <a:rPr lang="en-US" sz="1600" b="1" dirty="0"/>
              <a:t>Innovation / Novel Contributions:</a:t>
            </a:r>
            <a:endParaRPr lang="en-US" sz="1600" b="1" dirty="0"/>
          </a:p>
          <a:p>
            <a:pPr marL="152400" indent="0" algn="just">
              <a:spcBef>
                <a:spcPts val="0"/>
              </a:spcBef>
              <a:buNone/>
            </a:pPr>
            <a:r>
              <a:rPr lang="en-US" altLang="en-US" sz="1800" dirty="0">
                <a:latin typeface="Cambria" panose="02040503050406030204" pitchFamily="18" charset="0"/>
                <a:ea typeface="Cambria" panose="02040503050406030204" pitchFamily="18" charset="0"/>
              </a:rPr>
              <a:t>This project introduces a student-centered trail application tailored for rural communities. Unlike mainstream trail apps, it emphasizes lightweight design, offline access, and local language support to address digital-divide challenges. The innovation lies in combining participatory mapping with an educational focus, enabling students to map, share, and validate trails as part of their learning process. Contributions include creating a low-bandwidth platform that empowers rural youth, fosters community stewardship of natural resources, and integrates outdoor exploration with classroom activities for meaningful learning outcomes.</a:t>
            </a:r>
            <a:endParaRPr lang="en-US" altLang="en-US" sz="1800" dirty="0">
              <a:latin typeface="Cambria" panose="02040503050406030204" pitchFamily="18" charset="0"/>
              <a:ea typeface="Cambria" panose="02040503050406030204" pitchFamily="18" charset="0"/>
            </a:endParaRPr>
          </a:p>
          <a:p>
            <a:pPr marL="152400" indent="0" algn="just">
              <a:spcBef>
                <a:spcPts val="0"/>
              </a:spcBef>
              <a:buNone/>
            </a:pPr>
            <a:endParaRPr lang="en-US" sz="1800" dirty="0"/>
          </a:p>
        </p:txBody>
      </p:sp>
      <p:sp>
        <p:nvSpPr>
          <p:cNvPr id="5" name="TextBox 4"/>
          <p:cNvSpPr txBox="1"/>
          <p:nvPr/>
        </p:nvSpPr>
        <p:spPr>
          <a:xfrm>
            <a:off x="5637007" y="2974489"/>
            <a:ext cx="914400" cy="914400"/>
          </a:xfrm>
          <a:prstGeom prst="rect">
            <a:avLst/>
          </a:prstGeom>
          <a:noFill/>
        </p:spPr>
        <p:txBody>
          <a:bodyPr wrap="square" rtlCol="0">
            <a:spAutoFit/>
          </a:bodyPr>
          <a:lstStyle/>
          <a:p>
            <a:endParaRPr lang="en-IN" dirty="0"/>
          </a:p>
        </p:txBody>
      </p:sp>
      <p:sp>
        <p:nvSpPr>
          <p:cNvPr id="6" name="TextBox 5"/>
          <p:cNvSpPr txBox="1"/>
          <p:nvPr/>
        </p:nvSpPr>
        <p:spPr>
          <a:xfrm>
            <a:off x="5151062" y="3966883"/>
            <a:ext cx="184731" cy="307777"/>
          </a:xfrm>
          <a:prstGeom prst="rect">
            <a:avLst/>
          </a:prstGeom>
          <a:noFill/>
        </p:spPr>
        <p:txBody>
          <a:bodyPr wrap="square" rtlCol="0">
            <a:spAutoFit/>
          </a:bodyPr>
          <a:lstStyle/>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5" name="TextBox 4"/>
          <p:cNvSpPr txBox="1"/>
          <p:nvPr/>
        </p:nvSpPr>
        <p:spPr>
          <a:xfrm>
            <a:off x="5637007" y="2974489"/>
            <a:ext cx="914400" cy="914400"/>
          </a:xfrm>
          <a:prstGeom prst="rect">
            <a:avLst/>
          </a:prstGeom>
          <a:noFill/>
        </p:spPr>
        <p:txBody>
          <a:bodyPr wrap="square" rtlCol="0">
            <a:spAutoFit/>
          </a:bodyPr>
          <a:lstStyle/>
          <a:p>
            <a:endParaRPr lang="en-IN" dirty="0"/>
          </a:p>
        </p:txBody>
      </p:sp>
      <p:sp>
        <p:nvSpPr>
          <p:cNvPr id="6" name="TextBox 5"/>
          <p:cNvSpPr txBox="1"/>
          <p:nvPr/>
        </p:nvSpPr>
        <p:spPr>
          <a:xfrm>
            <a:off x="5151062" y="3966883"/>
            <a:ext cx="184731" cy="307777"/>
          </a:xfrm>
          <a:prstGeom prst="rect">
            <a:avLst/>
          </a:prstGeom>
          <a:noFill/>
        </p:spPr>
        <p:txBody>
          <a:bodyPr wrap="square" rtlCol="0">
            <a:spAutoFit/>
          </a:bodyPr>
          <a:lstStyle/>
          <a:p>
            <a:endParaRPr lang="en-IN" dirty="0"/>
          </a:p>
        </p:txBody>
      </p:sp>
      <p:sp>
        <p:nvSpPr>
          <p:cNvPr id="2" name="TextBox 1"/>
          <p:cNvSpPr txBox="1"/>
          <p:nvPr/>
        </p:nvSpPr>
        <p:spPr>
          <a:xfrm>
            <a:off x="5637007" y="2974489"/>
            <a:ext cx="914400" cy="914400"/>
          </a:xfrm>
          <a:prstGeom prst="rect">
            <a:avLst/>
          </a:prstGeom>
          <a:noFill/>
        </p:spPr>
        <p:txBody>
          <a:bodyPr wrap="square" rtlCol="0">
            <a:spAutoFit/>
          </a:bodyPr>
          <a:lstStyle/>
          <a:p>
            <a:endParaRPr lang="en-IN" dirty="0"/>
          </a:p>
        </p:txBody>
      </p:sp>
      <p:sp>
        <p:nvSpPr>
          <p:cNvPr id="3" name="TextBox 2"/>
          <p:cNvSpPr txBox="1"/>
          <p:nvPr/>
        </p:nvSpPr>
        <p:spPr>
          <a:xfrm>
            <a:off x="774550" y="336572"/>
            <a:ext cx="7272170"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Analysis of Problem Statement</a:t>
            </a:r>
            <a:endParaRPr lang="en-IN" sz="3200" dirty="0"/>
          </a:p>
        </p:txBody>
      </p:sp>
      <p:sp>
        <p:nvSpPr>
          <p:cNvPr id="8" name="TextBox 7"/>
          <p:cNvSpPr txBox="1"/>
          <p:nvPr/>
        </p:nvSpPr>
        <p:spPr>
          <a:xfrm>
            <a:off x="684903" y="1135339"/>
            <a:ext cx="10822193" cy="3969385"/>
          </a:xfrm>
          <a:prstGeom prst="rect">
            <a:avLst/>
          </a:prstGeom>
          <a:noFill/>
        </p:spPr>
        <p:txBody>
          <a:bodyPr wrap="square" rtlCol="0">
            <a:spAutoFit/>
          </a:bodyPr>
          <a:lstStyle/>
          <a:p>
            <a:endParaRPr lang="en-US" sz="1800" dirty="0"/>
          </a:p>
          <a:p>
            <a:r>
              <a:rPr lang="en-US" altLang="en-US" sz="1800" dirty="0"/>
              <a:t>The core issue is the lack of accessible and reliable trail information in rural areas, especially for students. Existing apps fail because they rely on constant internet, focus on urban recreation, and ignore local language or low-literacy needs. This creates barriers to safe exploration, outdoor learning, and community participation. Analyzing the problem shows three critical gaps:</a:t>
            </a:r>
            <a:endParaRPr lang="en-US" altLang="en-US" sz="1800" dirty="0"/>
          </a:p>
          <a:p>
            <a:endParaRPr lang="en-US" altLang="en-US" sz="1800" dirty="0"/>
          </a:p>
          <a:p>
            <a:pPr marL="285750" indent="-285750">
              <a:buSzPct val="175000"/>
              <a:buFont typeface="Arial" panose="020B0604020202020204" pitchFamily="34" charset="0"/>
              <a:buChar char="•"/>
            </a:pPr>
            <a:r>
              <a:rPr lang="en-US" altLang="en-US" sz="1800" dirty="0"/>
              <a:t>Technical Gap: Existing apps depend on high-speed internet and large storage, which are not suitable for rural areas.</a:t>
            </a:r>
            <a:endParaRPr lang="en-US" altLang="en-US" sz="1800" dirty="0"/>
          </a:p>
          <a:p>
            <a:pPr marL="285750" indent="-285750">
              <a:buSzPct val="175000"/>
              <a:buFont typeface="Arial" panose="020B0604020202020204" pitchFamily="34" charset="0"/>
              <a:buChar char="•"/>
            </a:pPr>
            <a:endParaRPr lang="en-US" altLang="en-US" sz="1800" dirty="0"/>
          </a:p>
          <a:p>
            <a:pPr marL="285750" indent="-285750">
              <a:buSzPct val="175000"/>
              <a:buFont typeface="Arial" panose="020B0604020202020204" pitchFamily="34" charset="0"/>
              <a:buChar char="•"/>
            </a:pPr>
            <a:r>
              <a:rPr lang="en-US" altLang="en-US" sz="1800" dirty="0"/>
              <a:t>Social Gap: Students and local communities are not actively involved in mapping or maintaining trail information.</a:t>
            </a:r>
            <a:endParaRPr lang="en-US" altLang="en-US" sz="1800" dirty="0"/>
          </a:p>
          <a:p>
            <a:pPr marL="285750" indent="-285750">
              <a:buSzPct val="175000"/>
              <a:buFont typeface="Arial" panose="020B0604020202020204" pitchFamily="34" charset="0"/>
              <a:buChar char="•"/>
            </a:pPr>
            <a:endParaRPr lang="en-US" altLang="en-US" sz="1800" dirty="0"/>
          </a:p>
          <a:p>
            <a:pPr marL="285750" indent="-285750">
              <a:buSzPct val="175000"/>
              <a:buFont typeface="Arial" panose="020B0604020202020204" pitchFamily="34" charset="0"/>
              <a:buChar char="•"/>
            </a:pPr>
            <a:r>
              <a:rPr lang="en-US" altLang="en-US" sz="1800" dirty="0"/>
              <a:t>Educational Gap: Trails are underutilized as resources for outdoor learning, skill-building, and community engagement.</a:t>
            </a:r>
            <a:endParaRPr lang="en-US" alt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IN" dirty="0"/>
              <a:t>Technology Stack Components</a:t>
            </a:r>
            <a:endParaRPr lang="en-IN" dirty="0"/>
          </a:p>
        </p:txBody>
      </p:sp>
      <p:sp>
        <p:nvSpPr>
          <p:cNvPr id="97" name="Google Shape;97;p14"/>
          <p:cNvSpPr txBox="1">
            <a:spLocks noGrp="1"/>
          </p:cNvSpPr>
          <p:nvPr>
            <p:ph type="body" idx="1"/>
          </p:nvPr>
        </p:nvSpPr>
        <p:spPr>
          <a:xfrm>
            <a:off x="537882" y="1043493"/>
            <a:ext cx="10785900" cy="4851698"/>
          </a:xfrm>
          <a:prstGeom prst="rect">
            <a:avLst/>
          </a:prstGeom>
          <a:noFill/>
          <a:ln>
            <a:noFill/>
          </a:ln>
        </p:spPr>
        <p:txBody>
          <a:bodyPr spcFirstLastPara="1" wrap="square" lIns="91425" tIns="45700" rIns="91425" bIns="45700" anchor="t" anchorCtr="0">
            <a:normAutofit fontScale="90000" lnSpcReduction="20000"/>
          </a:bodyPr>
          <a:lstStyle/>
          <a:p>
            <a:pPr marL="76200" indent="0">
              <a:buNone/>
            </a:pPr>
            <a:r>
              <a:rPr lang="en-IN" b="1" u="sng" dirty="0">
                <a:latin typeface="Cambria" panose="02040503050406030204" pitchFamily="18" charset="0"/>
                <a:ea typeface="Cambria" panose="02040503050406030204" pitchFamily="18" charset="0"/>
              </a:rPr>
              <a:t>Software Components :</a:t>
            </a:r>
            <a:endParaRPr lang="en-IN" b="1" u="sng"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Frontend Framework: React Native (cross-platform mobile app)</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Backend Framework: Node.js with Express</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Database: MongoDB / Firebase (for scalable and real-time data)</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APIs &amp; Services: Google Maps API / OpenStreetMap API (mapping &amp; navigation)</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Authentication: Firebase Auth or OAuth 2.0</a:t>
            </a:r>
            <a:endParaRPr lang="en-US" altLang="en-US" dirty="0">
              <a:latin typeface="Cambria" panose="02040503050406030204" pitchFamily="18" charset="0"/>
              <a:ea typeface="Cambria" panose="02040503050406030204" pitchFamily="18" charset="0"/>
            </a:endParaRPr>
          </a:p>
          <a:p>
            <a:pPr marL="76200" indent="0">
              <a:buNone/>
            </a:pPr>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Offline Support: SQLite / Room DB (local caching)</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Cloud Hosting: AWS / Firebase Hosting</a:t>
            </a:r>
            <a:r>
              <a:rPr lang="en-IN"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panose="020B0604020202020204"/>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dirty="0">
                <a:latin typeface="Cambria" panose="02040503050406030204" pitchFamily="18" charset="0"/>
                <a:ea typeface="Cambria" panose="02040503050406030204" pitchFamily="18" charset="0"/>
                <a:hlinkClick r:id="rId1"/>
              </a:rPr>
              <a:t>https://github.com/sabafareen/Ideate-and-implement-a-system-to-enhance-the-quality-of-education-in-rural-areas.</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59672" y="259080"/>
            <a:ext cx="7315200" cy="566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11" name="Picture Placeholder 10" descr="project_gantt_chart"/>
          <p:cNvPicPr>
            <a:picLocks noChangeAspect="1"/>
          </p:cNvPicPr>
          <p:nvPr>
            <p:ph type="pic" idx="2"/>
          </p:nvPr>
        </p:nvPicPr>
        <p:blipFill>
          <a:blip r:embed="rId1"/>
          <a:stretch>
            <a:fillRect/>
          </a:stretch>
        </p:blipFill>
        <p:spPr>
          <a:xfrm>
            <a:off x="2126615" y="1371600"/>
            <a:ext cx="7564755" cy="45396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5000"/>
          </a:bodyPr>
          <a:lstStyle/>
          <a:p>
            <a:r>
              <a:rPr lang="en-US" altLang="en-US" dirty="0">
                <a:solidFill>
                  <a:schemeClr val="accent1"/>
                </a:solidFill>
                <a:hlinkClick r:id="" action="ppaction://hlinkshowjump?jump=nextslide"/>
              </a:rPr>
              <a:t>[1] P. Jain, R. Kulkarni, and A. Mehra, “Cloud-Based Mobile Learning Platform for Rural Education Using Low-Cost Smartphones,” IEEE Access, vol. 12, pp. 45120–45132, 2024.</a:t>
            </a:r>
            <a:endParaRPr lang="en-US" altLang="en-US" dirty="0">
              <a:solidFill>
                <a:schemeClr val="accent1"/>
              </a:solidFill>
            </a:endParaRPr>
          </a:p>
          <a:p>
            <a:r>
              <a:rPr lang="en-US" altLang="en-US" dirty="0">
                <a:hlinkClick r:id="rId1" action="ppaction://hlinkfile"/>
              </a:rPr>
              <a:t>[2] S. Kumar and D. Reddy, “ICT-Enabled Smart </a:t>
            </a:r>
            <a:r>
              <a:rPr lang="en-US" altLang="en-US" dirty="0">
                <a:solidFill>
                  <a:srgbClr val="00B0F0"/>
                </a:solidFill>
                <a:hlinkClick r:id="rId1" action="ppaction://hlinkfile"/>
              </a:rPr>
              <a:t>Education </a:t>
            </a:r>
            <a:r>
              <a:rPr lang="en-US" altLang="en-US" dirty="0">
                <a:hlinkClick r:id="rId1" action="ppaction://hlinkfile"/>
              </a:rPr>
              <a:t>Framework for Rural Communities,” in Proc. 2023 IEEE Global Humanitarian Technology Conf. (GHTC), pp. 368–374, 2023.</a:t>
            </a:r>
            <a:endParaRPr lang="en-US" altLang="en-US" dirty="0">
              <a:hlinkClick r:id="rId1" action="ppaction://hlinkfile"/>
            </a:endParaRPr>
          </a:p>
          <a:p>
            <a:r>
              <a:rPr lang="en-US" altLang="en-US" dirty="0">
                <a:hlinkClick r:id="rId1" action="ppaction://hlinkfile"/>
              </a:rPr>
              <a:t>[3] A. Verma, K. Nair, and L. Thomas, “Design and Evaluation of Student-Centered Mobile Learning Application</a:t>
            </a:r>
            <a:r>
              <a:rPr lang="en-US" altLang="en-US" dirty="0">
                <a:solidFill>
                  <a:schemeClr val="bg2">
                    <a:lumMod val="60000"/>
                    <a:lumOff val="40000"/>
                  </a:schemeClr>
                </a:solidFill>
                <a:hlinkClick r:id="rId1" action="ppaction://hlinkfile"/>
              </a:rPr>
              <a:t>s wit</a:t>
            </a:r>
            <a:r>
              <a:rPr lang="en-US" altLang="en-US" dirty="0">
                <a:hlinkClick r:id="rId1" action="ppaction://hlinkfile"/>
              </a:rPr>
              <a:t>h Real-Time Analytics,” IEEE Transactions on Learning Technologies, vol. 16, no. 3, pp. 421–430, 2023.</a:t>
            </a:r>
            <a:endParaRPr lang="en-US" altLang="en-US" dirty="0">
              <a:hlinkClick r:id="rId1" action="ppaction://hlinkfile"/>
            </a:endParaRPr>
          </a:p>
          <a:p>
            <a:r>
              <a:rPr lang="en-US" altLang="en-US" dirty="0">
                <a:hlinkClick r:id="rId1" action="ppaction://hlinkfile"/>
              </a:rPr>
              <a:t>[4] R. Singh and M. Bose, “Integrating Cloud Services and Mobile Applications for Improving Educational Outcomes in Developing Regions,” in Proc. 2022 IEEE Int. Conf. on Cloud Computing in Emerging Markets (CCEM), pp. 95–100, 2022</a:t>
            </a:r>
            <a:r>
              <a:rPr lang="en-IN" altLang="en-US" dirty="0">
                <a:hlinkClick r:id="rId1" action="ppaction://hlinkfile"/>
              </a:rPr>
              <a:t>.</a:t>
            </a:r>
            <a:endParaRPr lang="en-IN" altLang="en-US" dirty="0">
              <a:hlinkClick r:id="rId1" action="ppaction://hlinkfile"/>
            </a:endParaRPr>
          </a:p>
          <a:p>
            <a:r>
              <a:rPr lang="en-US" altLang="en-US" dirty="0">
                <a:hlinkClick r:id="rId1" action="ppaction://hlinkfile"/>
              </a:rPr>
              <a:t>[5] H. Chen, Y. Zhang, and F. Li, “User Experience Design Principles for Mobile Educational Applications: An Empirical Study,” IEEE Access, vol. 11, pp. 118900–118912, 2023.</a:t>
            </a:r>
            <a:endParaRPr lang="en-US" altLang="en-US" dirty="0">
              <a:hlinkClick r:id="rId1" action="ppaction://hlinkfile"/>
            </a:endParaRPr>
          </a:p>
          <a:p>
            <a:pPr marL="152400" indent="0">
              <a:spcBef>
                <a:spcPts val="0"/>
              </a:spcBef>
              <a:buNone/>
            </a:pPr>
            <a:endParaRPr lang="en-US" dirty="0">
              <a:latin typeface="Cambria" panose="02040503050406030204" pitchFamily="18" charset="0"/>
              <a:ea typeface="Cambria" panose="02040503050406030204" pitchFamily="18" charset="0"/>
              <a:hlinkClick r:id="rId1" action="ppaction://hlinkfile"/>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
        <p:nvSpPr>
          <p:cNvPr id="7" name="Rectangle 3"/>
          <p:cNvSpPr>
            <a:spLocks noChangeArrowheads="1"/>
          </p:cNvSpPr>
          <p:nvPr/>
        </p:nvSpPr>
        <p:spPr bwMode="auto">
          <a:xfrm>
            <a:off x="0" y="369332"/>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spAutoFit/>
          </a:bodyPr>
          <a:lstStyle/>
          <a:p>
            <a:pPr marL="0" marR="0" lvl="0" indent="0"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5649</Words>
  <Application>WPS Presentation</Application>
  <PresentationFormat>Widescreen</PresentationFormat>
  <Paragraphs>122</Paragraphs>
  <Slides>10</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Arial</vt:lpstr>
      <vt:lpstr>Verdana</vt:lpstr>
      <vt:lpstr>Bookman Old Style</vt:lpstr>
      <vt:lpstr>Segoe Print</vt:lpstr>
      <vt:lpstr>Cambria</vt:lpstr>
      <vt:lpstr>Verdana</vt:lpstr>
      <vt:lpstr>Microsoft YaHei</vt:lpstr>
      <vt:lpstr>Arial Unicode MS</vt:lpstr>
      <vt:lpstr>Bioinformatics</vt:lpstr>
      <vt:lpstr>Ideate and implement a system to enhance the quality of education in rural areas.</vt:lpstr>
      <vt:lpstr>Problem Statement : </vt:lpstr>
      <vt:lpstr>PowerPoint 演示文稿</vt:lpstr>
      <vt:lpstr>PowerPoint 演示文稿</vt:lpstr>
      <vt:lpstr>PowerPoint 演示文稿</vt:lpstr>
      <vt:lpstr>Technology Stack Components</vt:lpstr>
      <vt:lpstr>Github Link</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Tarishma Sai</cp:lastModifiedBy>
  <cp:revision>46</cp:revision>
  <dcterms:created xsi:type="dcterms:W3CDTF">2025-09-25T10:49:00Z</dcterms:created>
  <dcterms:modified xsi:type="dcterms:W3CDTF">2025-09-30T05:23:45Z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FCB58258FF0C4D7688B5F76C24A6BBEC_13</vt:lpwstr>
  </property>
  <property fmtid="{D5CDD505-2E9C-101B-9397-08002B2CF9AE}" pid="3" name="KSOProductBuildVer">
    <vt:lpwstr>1033-12.2.0.22549</vt:lpwstr>
  </property>
</Properties>
</file>